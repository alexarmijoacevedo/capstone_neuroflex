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#" TargetMode="External"/><Relationship Id="rId5" Type="http://schemas.openxmlformats.org/officeDocument/2006/relationships/hyperlink" Target="#" TargetMode="External"/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403177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NeuroFlex VR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328900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Llevando la neuro-rehabilitación al futuro de la Atención Primaria de Salud.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4151709"/>
            <a:ext cx="4286540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7" name="Text 4"/>
          <p:cNvSpPr/>
          <p:nvPr/>
        </p:nvSpPr>
        <p:spPr>
          <a:xfrm>
            <a:off x="817740" y="4211538"/>
            <a:ext cx="465681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SEBASTIÁN CALDERÓN · ALEX ARMIJO · FELIX ASTUDILLO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68232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Desafío de la APS hoy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2254548"/>
            <a:ext cx="2987104" cy="91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32%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98086" y="3421459"/>
            <a:ext cx="29871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Adultos mayores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8086" y="3834408"/>
            <a:ext cx="29871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 la población al 2050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934520" y="2254548"/>
            <a:ext cx="2987203" cy="91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7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3934520" y="3421459"/>
            <a:ext cx="298720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Trazabilidad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934520" y="3834408"/>
            <a:ext cx="298720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medición objetiva de evolución cognitiva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697115"/>
            <a:ext cx="3012107" cy="14785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507" y="4921945"/>
            <a:ext cx="2460861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Alta demanda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024507" y="5440462"/>
            <a:ext cx="2460861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Crecimiento acelerado de adultos mayores en APS.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9617" y="4697115"/>
            <a:ext cx="3012107" cy="14785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36039" y="4921945"/>
            <a:ext cx="2460861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Recursos limitados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4236039" y="5440462"/>
            <a:ext cx="2460861" cy="510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Déficit de personal e infraestructura para terapias preventivas.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483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NeuroFlex VR: La Solución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0301" y="1540470"/>
            <a:ext cx="6570994" cy="3899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83808" y="4535837"/>
            <a:ext cx="1633394" cy="3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Panel Médico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325284" y="4535837"/>
            <a:ext cx="1633394" cy="3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Transmisión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3233196" y="4535837"/>
            <a:ext cx="1633394" cy="3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Casco VR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98086" y="5664795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Estimulación cognitiva y física mediante Realidad Virtual, con registro automatizado de precisión, tiempos de reacción y agilidad física en tiempo real.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99734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¿Por qué NeuroFlex VR?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469852"/>
            <a:ext cx="1941563" cy="3390801"/>
          </a:xfrm>
          <a:prstGeom prst="roundRect">
            <a:avLst>
              <a:gd name="adj" fmla="val 1541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5469396" y="2669282"/>
            <a:ext cx="598373" cy="59838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3897" y="2833787"/>
            <a:ext cx="269273" cy="26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9396" y="3467100"/>
            <a:ext cx="1542714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Eficiencia Operativa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469396" y="4384477"/>
            <a:ext cx="154271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Atiende más pacientes en menos tiempo.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7410959" y="2469852"/>
            <a:ext cx="1941563" cy="3390801"/>
          </a:xfrm>
          <a:prstGeom prst="roundRect">
            <a:avLst>
              <a:gd name="adj" fmla="val 1541"/>
            </a:avLst>
          </a:prstGeom>
          <a:solidFill>
            <a:srgbClr val="304755"/>
          </a:solidFill>
          <a:ln/>
        </p:spPr>
      </p:sp>
      <p:sp>
        <p:nvSpPr>
          <p:cNvPr id="10" name="Shape 6"/>
          <p:cNvSpPr/>
          <p:nvPr/>
        </p:nvSpPr>
        <p:spPr>
          <a:xfrm>
            <a:off x="7610384" y="2669282"/>
            <a:ext cx="598373" cy="59838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4884" y="2833787"/>
            <a:ext cx="269273" cy="269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10384" y="3467100"/>
            <a:ext cx="1542714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Decisiones con Datos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7610384" y="4384477"/>
            <a:ext cx="154271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Dashboard clínico interactivo para médicos y capacitadores.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9551947" y="2469852"/>
            <a:ext cx="1941563" cy="3390801"/>
          </a:xfrm>
          <a:prstGeom prst="roundRect">
            <a:avLst>
              <a:gd name="adj" fmla="val 1541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9751372" y="2669282"/>
            <a:ext cx="598373" cy="59838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5872" y="2833787"/>
            <a:ext cx="269273" cy="2692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51372" y="3467100"/>
            <a:ext cx="1542714" cy="797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Seguridad Garantizada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9751372" y="4384477"/>
            <a:ext cx="1542714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Arquitectura en la nube que protege la identidad del paciente.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19373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Tecnología de Alto Impacto, Bajo Costo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716213"/>
            <a:ext cx="2898008" cy="2898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9000" y="2908995"/>
            <a:ext cx="2337337" cy="25124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15422" y="3133824"/>
            <a:ext cx="178609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Arquitectura Serverless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415422" y="3919835"/>
            <a:ext cx="178609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Sin inversión en servidores locales.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5762" y="2908995"/>
            <a:ext cx="2337337" cy="25124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52183" y="3133824"/>
            <a:ext cx="178609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Pago por Uso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952183" y="3919835"/>
            <a:ext cx="178609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Costo operativo estimado de solo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$30 USD/año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en AWS.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2523" y="2908995"/>
            <a:ext cx="2337337" cy="25124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88945" y="3133824"/>
            <a:ext cx="1786091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Altamente Escalable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488945" y="3919835"/>
            <a:ext cx="178609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 1 a 100 CESFAMs sin caídas de sistema.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26355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Sus datos, blindados.</a:t>
            </a:r>
            <a:endParaRPr lang="en-US" sz="3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149376"/>
            <a:ext cx="797897" cy="79791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45313" y="2149376"/>
            <a:ext cx="51764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Cumplimiento Normativo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745313" y="2562324"/>
            <a:ext cx="517641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Alineados a la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Ley 19.628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sobre protección de datos.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346252"/>
            <a:ext cx="797897" cy="79791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45313" y="3346252"/>
            <a:ext cx="51764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Autenticación Biométrica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745313" y="3759200"/>
            <a:ext cx="517641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Accesos restringidos por roles: Administradores vs. Capacitadores.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796532"/>
            <a:ext cx="797897" cy="7979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45313" y="4796532"/>
            <a:ext cx="51764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Trazabilidad Total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745313" y="5209480"/>
            <a:ext cx="517641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Auditoría inmutable de quién entra y qué datos revisa.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0612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¿Cómo lo integramos en su CESFAM?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3921820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4" name="Shape 2"/>
          <p:cNvSpPr/>
          <p:nvPr/>
        </p:nvSpPr>
        <p:spPr>
          <a:xfrm>
            <a:off x="2769523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5" name="Shape 3"/>
          <p:cNvSpPr/>
          <p:nvPr/>
        </p:nvSpPr>
        <p:spPr>
          <a:xfrm>
            <a:off x="2557895" y="3697436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2641435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7510" y="2391767"/>
            <a:ext cx="376972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Semanas 1–8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510" y="2804716"/>
            <a:ext cx="376972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Optimización VR y despliegue en la nube.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978474" y="3921770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10" name="Shape 8"/>
          <p:cNvSpPr/>
          <p:nvPr/>
        </p:nvSpPr>
        <p:spPr>
          <a:xfrm>
            <a:off x="4766846" y="3697436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4850386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06461" y="4719737"/>
            <a:ext cx="376972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Semanas 9–13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6461" y="5132685"/>
            <a:ext cx="376972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Integración del panel médico (Dashboard).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87425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5797" y="3697436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6" name="Text 14"/>
          <p:cNvSpPr/>
          <p:nvPr/>
        </p:nvSpPr>
        <p:spPr>
          <a:xfrm>
            <a:off x="7059337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15412" y="2391767"/>
            <a:ext cx="376972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Semanas 14–16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15412" y="2804716"/>
            <a:ext cx="376972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Pruebas de flujo y capacitación del personal.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396376" y="3921770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20" name="Shape 18"/>
          <p:cNvSpPr/>
          <p:nvPr/>
        </p:nvSpPr>
        <p:spPr>
          <a:xfrm>
            <a:off x="9184748" y="3697436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1" name="Text 19"/>
          <p:cNvSpPr/>
          <p:nvPr/>
        </p:nvSpPr>
        <p:spPr>
          <a:xfrm>
            <a:off x="9268288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24363" y="4719737"/>
            <a:ext cx="376972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Mes 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24363" y="5132685"/>
            <a:ext cx="376972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Puesta en marcha oficial.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3900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Expertos en Transformación Digital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924645"/>
            <a:ext cx="1990675" cy="1990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41647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Sebastián Calderón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4577655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Ingeniero QA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1924645"/>
            <a:ext cx="1990675" cy="1990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41647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Alex Armijo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4577655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Frontend &amp; Telemetría Clínica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1924645"/>
            <a:ext cx="1990675" cy="19907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416470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Felix Astudillo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4577655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Arquitectura Cloud &amp; Ciberseguridad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98086" y="5121176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08786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510" y="5411788"/>
            <a:ext cx="249330" cy="1994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46266" y="5370413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Respaldo institucional: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Duoc UC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Validación previa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TRL 6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105297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Transformemos la rehabilitación juntos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2577802"/>
            <a:ext cx="6223638" cy="1409700"/>
          </a:xfrm>
          <a:prstGeom prst="roundRect">
            <a:avLst>
              <a:gd name="adj" fmla="val 2123"/>
            </a:avLst>
          </a:prstGeom>
          <a:solidFill>
            <a:srgbClr val="304755"/>
          </a:solidFill>
          <a:ln/>
        </p:spPr>
      </p:sp>
      <p:sp>
        <p:nvSpPr>
          <p:cNvPr id="6" name="Shape 3"/>
          <p:cNvSpPr/>
          <p:nvPr/>
        </p:nvSpPr>
        <p:spPr>
          <a:xfrm>
            <a:off x="698086" y="2577802"/>
            <a:ext cx="6223638" cy="704850"/>
          </a:xfrm>
          <a:custGeom>
            <a:avLst/>
            <a:gdLst/>
            <a:ahLst/>
            <a:cxnLst/>
            <a:rect l="l" t="t" r="r" b="b"/>
            <a:pathLst>
              <a:path w="6223638" h="704850">
                <a:moveTo>
                  <a:pt x="24935" y="0"/>
                </a:moveTo>
                <a:lnTo>
                  <a:pt x="6198703" y="0"/>
                </a:lnTo>
                <a:arcTo hR="24935" wR="24935" stAng="16200000" swAng="5400000"/>
                <a:lnTo>
                  <a:pt x="6223638" y="704850"/>
                </a:lnTo>
                <a:lnTo>
                  <a:pt x="0" y="704850"/>
                </a:lnTo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897510" y="2777232"/>
            <a:ext cx="582478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Mayor Eficiencia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8086" y="3282652"/>
            <a:ext cx="6223638" cy="704850"/>
          </a:xfrm>
          <a:custGeom>
            <a:avLst/>
            <a:gdLst/>
            <a:ahLst/>
            <a:cxnLst/>
            <a:rect l="l" t="t" r="r" b="b"/>
            <a:pathLst>
              <a:path w="6223638" h="704850">
                <a:moveTo>
                  <a:pt x="0" y="0"/>
                </a:moveTo>
                <a:lnTo>
                  <a:pt x="6223638" y="0"/>
                </a:lnTo>
                <a:lnTo>
                  <a:pt x="6223638" y="679915"/>
                </a:lnTo>
                <a:arcTo hR="24935" wR="24935" stAng="0" swAng="5400000"/>
                <a:lnTo>
                  <a:pt x="24935" y="704850"/>
                </a:lnTo>
                <a:arcTo hR="24935" wR="24935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698086" y="3282652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0" name="Text 7"/>
          <p:cNvSpPr/>
          <p:nvPr/>
        </p:nvSpPr>
        <p:spPr>
          <a:xfrm>
            <a:off x="897510" y="3482082"/>
            <a:ext cx="582478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❤️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Mejor Calidad de Vida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97223" y="4436170"/>
            <a:ext cx="653408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¿Agendamos un piloto en su centro?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8086" y="4211836"/>
            <a:ext cx="25399" cy="767854"/>
          </a:xfrm>
          <a:prstGeom prst="roundRect">
            <a:avLst>
              <a:gd name="adj" fmla="val 50001"/>
            </a:avLst>
          </a:prstGeom>
          <a:solidFill>
            <a:srgbClr val="0A988B"/>
          </a:solidFill>
          <a:ln/>
        </p:spPr>
      </p:sp>
      <p:pic>
        <p:nvPicPr>
          <p:cNvPr id="1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5204023"/>
            <a:ext cx="1667131" cy="548580"/>
          </a:xfrm>
          <a:prstGeom prst="rect">
            <a:avLst/>
          </a:prstGeom>
        </p:spPr>
      </p:pic>
      <p:pic>
        <p:nvPicPr>
          <p:cNvPr id="14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929" y="5204023"/>
            <a:ext cx="1874592" cy="548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2026-08-31T03:12:46Z</dcterms:created>
  <dcterms:modified xsi:type="dcterms:W3CDTF">2026-08-31T03:12:46Z</dcterms:modified>
</cp:coreProperties>
</file>