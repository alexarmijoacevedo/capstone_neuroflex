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embeddedFontLst>
    <p:embeddedFont>
      <p:font typeface="Cabin"/>
      <p:regular r:id="rId201314"/>
    </p:embeddedFont>
    <p:embeddedFont>
      <p:font typeface="Cabin SemiBold"/>
      <p:regular r:id="rId201315"/>
    </p:embeddedFont>
    <p:embeddedFont>
      <p:font typeface="Cabin Bold"/>
      <p:regular r:id="rId201316"/>
    </p:embeddedFont>
    <p:embeddedFont>
      <p:font typeface="Unbounded"/>
      <p:regular r:id="rId201317"/>
    </p:embeddedFont>
    <p:embeddedFont>
      <p:font typeface="Unbounded Bold"/>
      <p:regular r:id="rId201318"/>
    </p:embeddedFont>
    <p:embeddedFont>
      <p:font typeface="Unbounded Black"/>
      <p:regular r:id="rId201319"/>
    </p:embeddedFont>
    <p:embeddedFont>
      <p:font typeface="Unbounded SemiBold"/>
      <p:regular r:id="rId2013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Relationship Id="rId201321" Target="fonts/201321.fntdata" Type="http://schemas.openxmlformats.org/officeDocument/2006/relationships/font"/><Relationship Id="rId201322" Target="fonts/201322.fntdata" Type="http://schemas.openxmlformats.org/officeDocument/2006/relationships/font"/><Relationship Id="rId201323" Target="fonts/201323.fntdata" Type="http://schemas.openxmlformats.org/officeDocument/2006/relationships/font"/><Relationship Id="rId201324" Target="fonts/201324.fntdata" Type="http://schemas.openxmlformats.org/officeDocument/2006/relationships/font"/><Relationship Id="rId201325" Target="fonts/20132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jpeg"/><Relationship Id="rId2" Type="http://schemas.openxmlformats.org/officeDocument/2006/relationships/image" Target="../media/image-1002-2.jpeg"/><Relationship Id="rId3" Type="http://schemas.openxmlformats.org/officeDocument/2006/relationships/image" Target="../media/image-1002-3.png"/><Relationship Id="rId5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jpeg"/><Relationship Id="rId2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836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836">
              <a:alpha val="80000"/>
            </a:srgbClr>
          </a:solidFill>
          <a:ln/>
        </p:spPr>
      </p:sp>
      <p:pic>
        <p:nvPicPr>
          <p:cNvPr id="6" name="Image 2" descr="preencoded.png">
            <a:hlinkClick r:id="rId4" tooltip="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836"/>
          </a:solidFill>
          <a:ln/>
        </p:spPr>
      </p:sp>
      <p:pic>
        <p:nvPicPr>
          <p:cNvPr id="4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svg"/><Relationship Id="rId8" Type="http://schemas.openxmlformats.org/officeDocument/2006/relationships/image" Target="../media/image-3-8.png"/><Relationship Id="rId9" Type="http://schemas.openxmlformats.org/officeDocument/2006/relationships/image" Target="../media/image-3-9.sv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2.png"/><Relationship Id="rId5" Type="http://schemas.openxmlformats.org/officeDocument/2006/relationships/image" Target="../media/image-6-3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6-2.png"/><Relationship Id="rId9" Type="http://schemas.openxmlformats.org/officeDocument/2006/relationships/image" Target="../media/image-6-3.sv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#" TargetMode="External"/><Relationship Id="rId5" Type="http://schemas.openxmlformats.org/officeDocument/2006/relationships/hyperlink" Target="#" TargetMode="External"/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2551906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NeuroFlex VR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3218359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Evolución e Innovación</a:t>
            </a:r>
            <a:endParaRPr lang="en-US" sz="2950" dirty="0"/>
          </a:p>
        </p:txBody>
      </p:sp>
      <p:sp>
        <p:nvSpPr>
          <p:cNvPr id="4" name="Text 2"/>
          <p:cNvSpPr/>
          <p:nvPr/>
        </p:nvSpPr>
        <p:spPr>
          <a:xfrm>
            <a:off x="698086" y="3986907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Llevando la neuro-rehabilitación inmersiva al siguiente nivel.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3771" y="0"/>
            <a:ext cx="3047924" cy="6858000"/>
          </a:xfrm>
          <a:prstGeom prst="rect">
            <a:avLst/>
          </a:prstGeom>
          <a:solidFill>
            <a:srgbClr val="30475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3484" y="1529953"/>
            <a:ext cx="2848499" cy="37980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8086" y="839788"/>
            <a:ext cx="7747600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El Propósito de NeuroFlex</a:t>
            </a:r>
            <a:endParaRPr lang="en-US" sz="3650" dirty="0"/>
          </a:p>
        </p:txBody>
      </p:sp>
      <p:sp>
        <p:nvSpPr>
          <p:cNvPr id="5" name="Shape 2"/>
          <p:cNvSpPr/>
          <p:nvPr/>
        </p:nvSpPr>
        <p:spPr>
          <a:xfrm>
            <a:off x="4559186" y="1725613"/>
            <a:ext cx="25399" cy="3299321"/>
          </a:xfrm>
          <a:prstGeom prst="roundRect">
            <a:avLst>
              <a:gd name="adj" fmla="val 50001"/>
            </a:avLst>
          </a:prstGeom>
          <a:solidFill>
            <a:srgbClr val="49606E"/>
          </a:solidFill>
          <a:ln/>
        </p:spPr>
      </p:sp>
      <p:sp>
        <p:nvSpPr>
          <p:cNvPr id="6" name="Shape 3"/>
          <p:cNvSpPr/>
          <p:nvPr/>
        </p:nvSpPr>
        <p:spPr>
          <a:xfrm>
            <a:off x="672686" y="1725613"/>
            <a:ext cx="3873800" cy="1450181"/>
          </a:xfrm>
          <a:custGeom>
            <a:avLst/>
            <a:gdLst/>
            <a:ahLst/>
            <a:cxnLst/>
            <a:rect l="l" t="t" r="r" b="b"/>
            <a:pathLst>
              <a:path w="3873800" h="1450181">
                <a:moveTo>
                  <a:pt x="24935" y="0"/>
                </a:moveTo>
                <a:lnTo>
                  <a:pt x="3873800" y="0"/>
                </a:lnTo>
                <a:lnTo>
                  <a:pt x="3873800" y="1450181"/>
                </a:lnTo>
                <a:lnTo>
                  <a:pt x="24935" y="1450181"/>
                </a:lnTo>
                <a:arcTo hR="24935" wR="24935" stAng="5400000" swAng="5400000"/>
                <a:lnTo>
                  <a:pt x="0" y="24935"/>
                </a:lnTo>
                <a:arcTo hR="24935" wR="24935" stAng="10800000" swAng="5400000"/>
                <a:close/>
              </a:path>
            </a:pathLst>
          </a:custGeom>
          <a:solidFill>
            <a:srgbClr val="304755"/>
          </a:solidFill>
          <a:ln/>
        </p:spPr>
      </p:sp>
      <p:sp>
        <p:nvSpPr>
          <p:cNvPr id="7" name="Text 4"/>
          <p:cNvSpPr/>
          <p:nvPr/>
        </p:nvSpPr>
        <p:spPr>
          <a:xfrm>
            <a:off x="872111" y="1925042"/>
            <a:ext cx="3474951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Mecánica principal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2111" y="2337991"/>
            <a:ext cx="3474951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Atrapar números en un entorno 3D y resolver operaciones matemáticas.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597285" y="3574752"/>
            <a:ext cx="3873800" cy="1450181"/>
          </a:xfrm>
          <a:custGeom>
            <a:avLst/>
            <a:gdLst/>
            <a:ahLst/>
            <a:cxnLst/>
            <a:rect l="l" t="t" r="r" b="b"/>
            <a:pathLst>
              <a:path w="3873800" h="1450181">
                <a:moveTo>
                  <a:pt x="0" y="0"/>
                </a:moveTo>
                <a:lnTo>
                  <a:pt x="3848865" y="0"/>
                </a:lnTo>
                <a:arcTo hR="24935" wR="24935" stAng="16200000" swAng="5400000"/>
                <a:lnTo>
                  <a:pt x="3873800" y="1425246"/>
                </a:lnTo>
                <a:arcTo hR="24935" wR="24935" stAng="0" swAng="5400000"/>
                <a:lnTo>
                  <a:pt x="0" y="1450181"/>
                </a:lnTo>
                <a:lnTo>
                  <a:pt x="0" y="0"/>
                </a:lnTo>
                <a:close/>
              </a:path>
            </a:pathLst>
          </a:custGeom>
          <a:solidFill>
            <a:srgbClr val="304755"/>
          </a:solidFill>
          <a:ln/>
        </p:spPr>
      </p:sp>
      <p:sp>
        <p:nvSpPr>
          <p:cNvPr id="10" name="Text 7"/>
          <p:cNvSpPr/>
          <p:nvPr/>
        </p:nvSpPr>
        <p:spPr>
          <a:xfrm>
            <a:off x="4796710" y="3774182"/>
            <a:ext cx="3474951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Objetivo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796710" y="4187130"/>
            <a:ext cx="3474951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Ralentizar el deterioro cognitivo de forma interactiva y entretenida.</a:t>
            </a:r>
            <a:endParaRPr lang="en-US" sz="15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86" y="5249267"/>
            <a:ext cx="7747600" cy="76884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24507" y="5474097"/>
            <a:ext cx="719635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Plataforma de estimulación cognitiva y física para adultos mayores.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04792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746009" y="1270595"/>
            <a:ext cx="7747600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El Prototipo Actual</a:t>
            </a:r>
            <a:endParaRPr lang="en-US" sz="3650" dirty="0"/>
          </a:p>
        </p:txBody>
      </p:sp>
      <p:sp>
        <p:nvSpPr>
          <p:cNvPr id="4" name="Shape 1"/>
          <p:cNvSpPr/>
          <p:nvPr/>
        </p:nvSpPr>
        <p:spPr>
          <a:xfrm>
            <a:off x="3746009" y="2156420"/>
            <a:ext cx="1787282" cy="3430984"/>
          </a:xfrm>
          <a:prstGeom prst="roundRect">
            <a:avLst>
              <a:gd name="adj" fmla="val 1674"/>
            </a:avLst>
          </a:prstGeom>
          <a:solidFill>
            <a:srgbClr val="304755"/>
          </a:solidFill>
          <a:ln/>
        </p:spPr>
      </p:sp>
      <p:sp>
        <p:nvSpPr>
          <p:cNvPr id="5" name="Shape 2"/>
          <p:cNvSpPr/>
          <p:nvPr/>
        </p:nvSpPr>
        <p:spPr>
          <a:xfrm>
            <a:off x="3945434" y="2355850"/>
            <a:ext cx="598373" cy="598388"/>
          </a:xfrm>
          <a:prstGeom prst="ellipse">
            <a:avLst/>
          </a:prstGeom>
          <a:solidFill>
            <a:srgbClr val="0A988B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9935" y="2520355"/>
            <a:ext cx="269273" cy="2692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945434" y="3153668"/>
            <a:ext cx="1388432" cy="1595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Proyecto recibido en fase avanzada (Nivel de madurez TRL 6).</a:t>
            </a:r>
            <a:endParaRPr lang="en-US" sz="1550" dirty="0"/>
          </a:p>
        </p:txBody>
      </p:sp>
      <p:sp>
        <p:nvSpPr>
          <p:cNvPr id="8" name="Shape 4"/>
          <p:cNvSpPr/>
          <p:nvPr/>
        </p:nvSpPr>
        <p:spPr>
          <a:xfrm>
            <a:off x="5732716" y="2156420"/>
            <a:ext cx="1787381" cy="3430984"/>
          </a:xfrm>
          <a:prstGeom prst="roundRect">
            <a:avLst>
              <a:gd name="adj" fmla="val 1674"/>
            </a:avLst>
          </a:prstGeom>
          <a:solidFill>
            <a:srgbClr val="304755"/>
          </a:solidFill>
          <a:ln/>
        </p:spPr>
      </p:sp>
      <p:sp>
        <p:nvSpPr>
          <p:cNvPr id="9" name="Shape 5"/>
          <p:cNvSpPr/>
          <p:nvPr/>
        </p:nvSpPr>
        <p:spPr>
          <a:xfrm>
            <a:off x="5932141" y="2355850"/>
            <a:ext cx="598373" cy="598388"/>
          </a:xfrm>
          <a:prstGeom prst="ellipse">
            <a:avLst/>
          </a:prstGeom>
          <a:solidFill>
            <a:srgbClr val="0A988B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641" y="2520355"/>
            <a:ext cx="269273" cy="2692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932141" y="3153668"/>
            <a:ext cx="1388532" cy="1595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Trabajo destacado del equipo anterior Actividad VR funcional.</a:t>
            </a:r>
            <a:endParaRPr lang="en-US" sz="1550" dirty="0"/>
          </a:p>
        </p:txBody>
      </p:sp>
      <p:sp>
        <p:nvSpPr>
          <p:cNvPr id="12" name="Shape 7"/>
          <p:cNvSpPr/>
          <p:nvPr/>
        </p:nvSpPr>
        <p:spPr>
          <a:xfrm>
            <a:off x="7719522" y="2156420"/>
            <a:ext cx="1787282" cy="3430984"/>
          </a:xfrm>
          <a:prstGeom prst="roundRect">
            <a:avLst>
              <a:gd name="adj" fmla="val 1674"/>
            </a:avLst>
          </a:prstGeom>
          <a:solidFill>
            <a:srgbClr val="304755"/>
          </a:solidFill>
          <a:ln/>
        </p:spPr>
      </p:sp>
      <p:sp>
        <p:nvSpPr>
          <p:cNvPr id="13" name="Shape 8"/>
          <p:cNvSpPr/>
          <p:nvPr/>
        </p:nvSpPr>
        <p:spPr>
          <a:xfrm>
            <a:off x="7918946" y="2355850"/>
            <a:ext cx="598373" cy="598388"/>
          </a:xfrm>
          <a:prstGeom prst="ellipse">
            <a:avLst/>
          </a:prstGeom>
          <a:solidFill>
            <a:srgbClr val="0A988B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83447" y="2520355"/>
            <a:ext cx="269273" cy="2692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18946" y="3153668"/>
            <a:ext cx="1388432" cy="223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Integración base probada exitosamente en entorno real </a:t>
            </a:r>
            <a:pPr algn="l" indent="0" marL="0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(CESFAM NUEVA AURORA).</a:t>
            </a:r>
            <a:endParaRPr lang="en-US" sz="1550" dirty="0"/>
          </a:p>
        </p:txBody>
      </p:sp>
      <p:sp>
        <p:nvSpPr>
          <p:cNvPr id="16" name="Shape 10"/>
          <p:cNvSpPr/>
          <p:nvPr/>
        </p:nvSpPr>
        <p:spPr>
          <a:xfrm>
            <a:off x="9706228" y="2156420"/>
            <a:ext cx="1787381" cy="3430984"/>
          </a:xfrm>
          <a:prstGeom prst="roundRect">
            <a:avLst>
              <a:gd name="adj" fmla="val 1674"/>
            </a:avLst>
          </a:prstGeom>
          <a:solidFill>
            <a:srgbClr val="304755"/>
          </a:solidFill>
          <a:ln/>
        </p:spPr>
      </p:sp>
      <p:sp>
        <p:nvSpPr>
          <p:cNvPr id="17" name="Shape 11"/>
          <p:cNvSpPr/>
          <p:nvPr/>
        </p:nvSpPr>
        <p:spPr>
          <a:xfrm>
            <a:off x="9905653" y="2355850"/>
            <a:ext cx="598373" cy="598388"/>
          </a:xfrm>
          <a:prstGeom prst="ellipse">
            <a:avLst/>
          </a:prstGeom>
          <a:solidFill>
            <a:srgbClr val="0A988B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70154" y="2520355"/>
            <a:ext cx="269273" cy="2692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905653" y="3153668"/>
            <a:ext cx="1388532" cy="1595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Plataforma validada con alta aceptación y usabilidad en pacientes.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3771" y="0"/>
            <a:ext cx="3047924" cy="6858000"/>
          </a:xfrm>
          <a:prstGeom prst="rect">
            <a:avLst/>
          </a:prstGeom>
          <a:solidFill>
            <a:srgbClr val="30475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3484" y="1529953"/>
            <a:ext cx="2848499" cy="37980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8086" y="1380232"/>
            <a:ext cx="7747600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El Desafío</a:t>
            </a:r>
            <a:endParaRPr lang="en-US" sz="36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83" y="2266057"/>
            <a:ext cx="7696404" cy="32116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237217" y="2414065"/>
            <a:ext cx="2999659" cy="4114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La actividad es lineal, sin progresión de dificultad.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5237339" y="3459184"/>
            <a:ext cx="2999659" cy="617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La falta de un desafío progresivo reduce la estimulación cerebral.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237339" y="4537236"/>
            <a:ext cx="2999659" cy="4114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Crear un sistema inteligente, escalonado y adaptable.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781248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Evolución de la Experiencia</a:t>
            </a:r>
            <a:endParaRPr lang="en-US" sz="36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086" y="1891407"/>
            <a:ext cx="3462152" cy="3462238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2427" y="3190974"/>
            <a:ext cx="4107950" cy="410805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573971" y="4264223"/>
            <a:ext cx="336542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65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427" y="3190974"/>
            <a:ext cx="4107950" cy="410805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7908132" y="3493988"/>
            <a:ext cx="336542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65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2427" y="3190974"/>
            <a:ext cx="4107950" cy="4108053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9242194" y="4264223"/>
            <a:ext cx="336542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650" dirty="0"/>
          </a:p>
        </p:txBody>
      </p:sp>
      <p:sp>
        <p:nvSpPr>
          <p:cNvPr id="10" name="Text 4"/>
          <p:cNvSpPr/>
          <p:nvPr/>
        </p:nvSpPr>
        <p:spPr>
          <a:xfrm>
            <a:off x="4653144" y="2821583"/>
            <a:ext cx="2082748" cy="586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Sistema de Niveles</a:t>
            </a:r>
            <a:endParaRPr lang="en-US" sz="1800" dirty="0"/>
          </a:p>
        </p:txBody>
      </p:sp>
      <p:sp>
        <p:nvSpPr>
          <p:cNvPr id="11" name="Text 5"/>
          <p:cNvSpPr/>
          <p:nvPr/>
        </p:nvSpPr>
        <p:spPr>
          <a:xfrm>
            <a:off x="7035029" y="2498725"/>
            <a:ext cx="208284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Adaptabilidad</a:t>
            </a:r>
            <a:endParaRPr lang="en-US" sz="1800" dirty="0"/>
          </a:p>
        </p:txBody>
      </p:sp>
      <p:sp>
        <p:nvSpPr>
          <p:cNvPr id="12" name="Text 6"/>
          <p:cNvSpPr/>
          <p:nvPr/>
        </p:nvSpPr>
        <p:spPr>
          <a:xfrm>
            <a:off x="9417013" y="2821583"/>
            <a:ext cx="2082748" cy="586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Nuevo Escenario 3D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30475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9522" y="513953"/>
            <a:ext cx="4372461" cy="58300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8086" y="1589683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Métricas</a:t>
            </a:r>
            <a:endParaRPr lang="en-US" sz="36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2686" y="2450108"/>
            <a:ext cx="6249037" cy="36998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48309" y="2475508"/>
            <a:ext cx="5973415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Nuevos desafíos requieren métricas más precisas para el área médica.</a:t>
            </a:r>
            <a:endParaRPr lang="en-US" sz="15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2686" y="3168253"/>
            <a:ext cx="6249037" cy="36998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48309" y="3193653"/>
            <a:ext cx="5973415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Nivel Alcanzado:</a:t>
            </a:r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Registro exacto de la dificultad máxima superada.</a:t>
            </a:r>
            <a:endParaRPr lang="en-US" sz="15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2686" y="3886398"/>
            <a:ext cx="6249037" cy="689173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948309" y="3911798"/>
            <a:ext cx="597341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Velocidad de Reacción:</a:t>
            </a:r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Medición de tiempos de respuesta en segundos.</a:t>
            </a:r>
            <a:endParaRPr lang="en-US" sz="15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2686" y="4923730"/>
            <a:ext cx="6249037" cy="369987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948309" y="4949130"/>
            <a:ext cx="5973415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Tiempos por Fase:</a:t>
            </a:r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Análisis detallado del tiempo físico vs. tiempo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99020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Cronograma con SCRUM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698086" y="4018558"/>
            <a:ext cx="10795524" cy="25400"/>
          </a:xfrm>
          <a:prstGeom prst="roundRect">
            <a:avLst>
              <a:gd name="adj" fmla="val 49999"/>
            </a:avLst>
          </a:prstGeom>
          <a:solidFill>
            <a:srgbClr val="49606E"/>
          </a:solidFill>
          <a:ln/>
        </p:spPr>
      </p:sp>
      <p:sp>
        <p:nvSpPr>
          <p:cNvPr id="4" name="Shape 2"/>
          <p:cNvSpPr/>
          <p:nvPr/>
        </p:nvSpPr>
        <p:spPr>
          <a:xfrm>
            <a:off x="2401431" y="3420219"/>
            <a:ext cx="25399" cy="598388"/>
          </a:xfrm>
          <a:prstGeom prst="roundRect">
            <a:avLst>
              <a:gd name="adj" fmla="val 50001"/>
            </a:avLst>
          </a:prstGeom>
          <a:solidFill>
            <a:srgbClr val="49606E"/>
          </a:solidFill>
          <a:ln/>
        </p:spPr>
      </p:sp>
      <p:sp>
        <p:nvSpPr>
          <p:cNvPr id="5" name="Shape 3"/>
          <p:cNvSpPr/>
          <p:nvPr/>
        </p:nvSpPr>
        <p:spPr>
          <a:xfrm>
            <a:off x="2189802" y="3794175"/>
            <a:ext cx="448755" cy="448766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73342" y="3877717"/>
            <a:ext cx="281576" cy="2815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7510" y="1876028"/>
            <a:ext cx="303343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SPRINT 0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7510" y="2288977"/>
            <a:ext cx="3033438" cy="255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2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Gestión, Levantamiento y Definición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42190" y="4018508"/>
            <a:ext cx="25399" cy="598388"/>
          </a:xfrm>
          <a:prstGeom prst="roundRect">
            <a:avLst>
              <a:gd name="adj" fmla="val 50001"/>
            </a:avLst>
          </a:prstGeom>
          <a:solidFill>
            <a:srgbClr val="49606E"/>
          </a:solidFill>
          <a:ln/>
        </p:spPr>
      </p:sp>
      <p:sp>
        <p:nvSpPr>
          <p:cNvPr id="10" name="Shape 7"/>
          <p:cNvSpPr/>
          <p:nvPr/>
        </p:nvSpPr>
        <p:spPr>
          <a:xfrm>
            <a:off x="4030562" y="3794175"/>
            <a:ext cx="448755" cy="448766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102" y="3877717"/>
            <a:ext cx="281576" cy="28158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38270" y="4816475"/>
            <a:ext cx="303343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SPRINT 1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2738270" y="5229423"/>
            <a:ext cx="303343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Modelado Base e Investigación de IA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6083049" y="3420219"/>
            <a:ext cx="25399" cy="598388"/>
          </a:xfrm>
          <a:prstGeom prst="roundRect">
            <a:avLst>
              <a:gd name="adj" fmla="val 50001"/>
            </a:avLst>
          </a:prstGeom>
          <a:solidFill>
            <a:srgbClr val="49606E"/>
          </a:solidFill>
          <a:ln/>
        </p:spPr>
      </p:sp>
      <p:sp>
        <p:nvSpPr>
          <p:cNvPr id="15" name="Shape 11"/>
          <p:cNvSpPr/>
          <p:nvPr/>
        </p:nvSpPr>
        <p:spPr>
          <a:xfrm>
            <a:off x="5871420" y="3794175"/>
            <a:ext cx="448755" cy="448766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4960" y="3877717"/>
            <a:ext cx="281576" cy="28158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9128" y="1876028"/>
            <a:ext cx="303343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SPRINT 2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4579128" y="2288977"/>
            <a:ext cx="303343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Lógica de Dificultad y Entrenamiento de IA</a:t>
            </a:r>
            <a:endParaRPr lang="en-US" sz="1550" dirty="0"/>
          </a:p>
        </p:txBody>
      </p:sp>
      <p:sp>
        <p:nvSpPr>
          <p:cNvPr id="19" name="Shape 14"/>
          <p:cNvSpPr/>
          <p:nvPr/>
        </p:nvSpPr>
        <p:spPr>
          <a:xfrm>
            <a:off x="7923808" y="4018508"/>
            <a:ext cx="25399" cy="598388"/>
          </a:xfrm>
          <a:prstGeom prst="roundRect">
            <a:avLst>
              <a:gd name="adj" fmla="val 50001"/>
            </a:avLst>
          </a:prstGeom>
          <a:solidFill>
            <a:srgbClr val="49606E"/>
          </a:solidFill>
          <a:ln/>
        </p:spPr>
      </p:sp>
      <p:sp>
        <p:nvSpPr>
          <p:cNvPr id="20" name="Shape 15"/>
          <p:cNvSpPr/>
          <p:nvPr/>
        </p:nvSpPr>
        <p:spPr>
          <a:xfrm>
            <a:off x="7712180" y="3794175"/>
            <a:ext cx="448755" cy="448766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5720" y="3877717"/>
            <a:ext cx="281576" cy="28158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419888" y="4816475"/>
            <a:ext cx="303343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SPRINT 3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419888" y="5229423"/>
            <a:ext cx="303343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Refinamiento, Validación y Pruebas</a:t>
            </a:r>
            <a:endParaRPr lang="en-US" sz="1550" dirty="0"/>
          </a:p>
        </p:txBody>
      </p:sp>
      <p:sp>
        <p:nvSpPr>
          <p:cNvPr id="24" name="Shape 18"/>
          <p:cNvSpPr/>
          <p:nvPr/>
        </p:nvSpPr>
        <p:spPr>
          <a:xfrm>
            <a:off x="9764667" y="3420219"/>
            <a:ext cx="25399" cy="598388"/>
          </a:xfrm>
          <a:prstGeom prst="roundRect">
            <a:avLst>
              <a:gd name="adj" fmla="val 50001"/>
            </a:avLst>
          </a:prstGeom>
          <a:solidFill>
            <a:srgbClr val="49606E"/>
          </a:solidFill>
          <a:ln/>
        </p:spPr>
      </p:sp>
      <p:sp>
        <p:nvSpPr>
          <p:cNvPr id="25" name="Shape 19"/>
          <p:cNvSpPr/>
          <p:nvPr/>
        </p:nvSpPr>
        <p:spPr>
          <a:xfrm>
            <a:off x="9553038" y="3794175"/>
            <a:ext cx="448755" cy="448766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636578" y="3877717"/>
            <a:ext cx="281576" cy="28158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260746" y="1876028"/>
            <a:ext cx="3033438" cy="586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Cierre y Transferencia</a:t>
            </a:r>
            <a:endParaRPr lang="en-US" sz="1800" dirty="0"/>
          </a:p>
        </p:txBody>
      </p:sp>
      <p:sp>
        <p:nvSpPr>
          <p:cNvPr id="28" name="Text 21"/>
          <p:cNvSpPr/>
          <p:nvPr/>
        </p:nvSpPr>
        <p:spPr>
          <a:xfrm>
            <a:off x="8260746" y="2582267"/>
            <a:ext cx="303343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Elaboración de la documentación de cierre del proyecto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700014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Expertos en Transformación Digital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698086" y="2685653"/>
            <a:ext cx="3465525" cy="1450181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4" name="Text 2"/>
          <p:cNvSpPr/>
          <p:nvPr/>
        </p:nvSpPr>
        <p:spPr>
          <a:xfrm>
            <a:off x="897510" y="2885083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Sebastián Calderón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97510" y="3298031"/>
            <a:ext cx="3066676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Especialista en Inteligencia Artificial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4363035" y="2685653"/>
            <a:ext cx="3465525" cy="1450181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7" name="Text 5"/>
          <p:cNvSpPr/>
          <p:nvPr/>
        </p:nvSpPr>
        <p:spPr>
          <a:xfrm>
            <a:off x="4562460" y="2885083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Alex Armijo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62460" y="3298031"/>
            <a:ext cx="3066676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Arquitectura Cloud &amp; Ciberseguridad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027985" y="2685653"/>
            <a:ext cx="3465624" cy="1450181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10" name="Text 8"/>
          <p:cNvSpPr/>
          <p:nvPr/>
        </p:nvSpPr>
        <p:spPr>
          <a:xfrm>
            <a:off x="8227410" y="2885083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Felix Astudillo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7410" y="3298031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Front-end y Modelado de escenarios.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98086" y="4360168"/>
            <a:ext cx="10795524" cy="797719"/>
          </a:xfrm>
          <a:prstGeom prst="roundRect">
            <a:avLst>
              <a:gd name="adj" fmla="val 3751"/>
            </a:avLst>
          </a:prstGeom>
          <a:solidFill>
            <a:srgbClr val="08786D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510" y="4650780"/>
            <a:ext cx="249330" cy="1994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346266" y="4609405"/>
            <a:ext cx="1055750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Respaldo institucional: </a:t>
            </a:r>
            <a:pPr algn="l" indent="0" marL="0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Duoc UC</a:t>
            </a:r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· Validación previa </a:t>
            </a:r>
            <a:pPr algn="l" indent="0" marL="0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TRL 6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3771" y="0"/>
            <a:ext cx="3047924" cy="6858000"/>
          </a:xfrm>
          <a:prstGeom prst="rect">
            <a:avLst/>
          </a:prstGeom>
          <a:solidFill>
            <a:srgbClr val="30475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3484" y="1529953"/>
            <a:ext cx="2848499" cy="37980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8086" y="1105297"/>
            <a:ext cx="7747600" cy="117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Llevando la rehabilitación al siguiente nivel</a:t>
            </a:r>
            <a:endParaRPr lang="en-US" sz="3650" dirty="0"/>
          </a:p>
        </p:txBody>
      </p:sp>
      <p:sp>
        <p:nvSpPr>
          <p:cNvPr id="5" name="Shape 2"/>
          <p:cNvSpPr/>
          <p:nvPr/>
        </p:nvSpPr>
        <p:spPr>
          <a:xfrm>
            <a:off x="698086" y="2577802"/>
            <a:ext cx="7747600" cy="1409700"/>
          </a:xfrm>
          <a:prstGeom prst="roundRect">
            <a:avLst>
              <a:gd name="adj" fmla="val 2123"/>
            </a:avLst>
          </a:prstGeom>
          <a:solidFill>
            <a:srgbClr val="304755"/>
          </a:solidFill>
          <a:ln/>
        </p:spPr>
      </p:sp>
      <p:sp>
        <p:nvSpPr>
          <p:cNvPr id="6" name="Shape 3"/>
          <p:cNvSpPr/>
          <p:nvPr/>
        </p:nvSpPr>
        <p:spPr>
          <a:xfrm>
            <a:off x="698086" y="2577802"/>
            <a:ext cx="7747600" cy="704850"/>
          </a:xfrm>
          <a:custGeom>
            <a:avLst/>
            <a:gdLst/>
            <a:ahLst/>
            <a:cxnLst/>
            <a:rect l="l" t="t" r="r" b="b"/>
            <a:pathLst>
              <a:path w="7747600" h="704850">
                <a:moveTo>
                  <a:pt x="24935" y="0"/>
                </a:moveTo>
                <a:lnTo>
                  <a:pt x="7722665" y="0"/>
                </a:lnTo>
                <a:arcTo hR="24935" wR="24935" stAng="16200000" swAng="5400000"/>
                <a:lnTo>
                  <a:pt x="7747600" y="704850"/>
                </a:lnTo>
                <a:lnTo>
                  <a:pt x="0" y="704850"/>
                </a:lnTo>
                <a:lnTo>
                  <a:pt x="0" y="24935"/>
                </a:lnTo>
                <a:arcTo hR="24935" wR="24935" stAng="10800000" swAng="5400000"/>
                <a:close/>
              </a:path>
            </a:pathLst>
          </a:custGeom>
          <a:solidFill>
            <a:srgbClr val="304755"/>
          </a:solidFill>
          <a:ln/>
        </p:spPr>
      </p:sp>
      <p:sp>
        <p:nvSpPr>
          <p:cNvPr id="7" name="Text 4"/>
          <p:cNvSpPr/>
          <p:nvPr/>
        </p:nvSpPr>
        <p:spPr>
          <a:xfrm>
            <a:off x="897510" y="2777232"/>
            <a:ext cx="7348751" cy="305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📈</a:t>
            </a:r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 Mayor Eficiencia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98086" y="3282652"/>
            <a:ext cx="7747600" cy="704850"/>
          </a:xfrm>
          <a:custGeom>
            <a:avLst/>
            <a:gdLst/>
            <a:ahLst/>
            <a:cxnLst/>
            <a:rect l="l" t="t" r="r" b="b"/>
            <a:pathLst>
              <a:path w="7747600" h="704850">
                <a:moveTo>
                  <a:pt x="0" y="0"/>
                </a:moveTo>
                <a:lnTo>
                  <a:pt x="7747600" y="0"/>
                </a:lnTo>
                <a:lnTo>
                  <a:pt x="7747600" y="679915"/>
                </a:lnTo>
                <a:arcTo hR="24935" wR="24935" stAng="0" swAng="5400000"/>
                <a:lnTo>
                  <a:pt x="24935" y="704850"/>
                </a:lnTo>
                <a:arcTo hR="24935" wR="24935" stAng="5400000" swAng="5400000"/>
                <a:lnTo>
                  <a:pt x="0" y="0"/>
                </a:lnTo>
                <a:close/>
              </a:path>
            </a:pathLst>
          </a:custGeom>
          <a:solidFill>
            <a:srgbClr val="304755"/>
          </a:solidFill>
          <a:ln/>
        </p:spPr>
      </p:sp>
      <p:sp>
        <p:nvSpPr>
          <p:cNvPr id="9" name="Shape 6"/>
          <p:cNvSpPr/>
          <p:nvPr/>
        </p:nvSpPr>
        <p:spPr>
          <a:xfrm>
            <a:off x="698086" y="3282652"/>
            <a:ext cx="7747600" cy="25400"/>
          </a:xfrm>
          <a:prstGeom prst="roundRect">
            <a:avLst>
              <a:gd name="adj" fmla="val 49999"/>
            </a:avLst>
          </a:prstGeom>
          <a:solidFill>
            <a:srgbClr val="49606E"/>
          </a:solidFill>
          <a:ln/>
        </p:spPr>
      </p:sp>
      <p:sp>
        <p:nvSpPr>
          <p:cNvPr id="10" name="Text 7"/>
          <p:cNvSpPr/>
          <p:nvPr/>
        </p:nvSpPr>
        <p:spPr>
          <a:xfrm>
            <a:off x="897510" y="3482082"/>
            <a:ext cx="7348751" cy="305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❤️</a:t>
            </a:r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 Mejor Calidad de Vida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97223" y="4436170"/>
            <a:ext cx="805804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¿Agendamos un piloto en su centro?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98086" y="4211836"/>
            <a:ext cx="25399" cy="767854"/>
          </a:xfrm>
          <a:prstGeom prst="roundRect">
            <a:avLst>
              <a:gd name="adj" fmla="val 50001"/>
            </a:avLst>
          </a:prstGeom>
          <a:solidFill>
            <a:srgbClr val="0A988B"/>
          </a:solidFill>
          <a:ln/>
        </p:spPr>
      </p:sp>
      <p:pic>
        <p:nvPicPr>
          <p:cNvPr id="13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086" y="5204023"/>
            <a:ext cx="1667131" cy="548580"/>
          </a:xfrm>
          <a:prstGeom prst="rect">
            <a:avLst/>
          </a:prstGeom>
        </p:spPr>
      </p:pic>
      <p:pic>
        <p:nvPicPr>
          <p:cNvPr id="14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929" y="5204023"/>
            <a:ext cx="1874592" cy="5485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2026-09-07T04:30:50Z</dcterms:created>
  <dcterms:modified xsi:type="dcterms:W3CDTF">2026-09-07T04:30:50Z</dcterms:modified>
</cp:coreProperties>
</file>